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  <p:sldId id="261" r:id="rId7"/>
    <p:sldId id="264" r:id="rId8"/>
    <p:sldId id="263" r:id="rId9"/>
    <p:sldId id="266" r:id="rId10"/>
    <p:sldId id="262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7B2F-A3A5-1058-4A75-1E6DF0B5F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C1B82-0244-A5F8-7E9C-D67F83065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B4973-2118-86A1-DA23-B7DC35E8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34C70-BA41-ABB5-9A70-64D113B4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894BF-EA9A-4850-C19F-CBA949CA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5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74AA-9AA7-19BA-563D-026C9035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CFDC4-6CD4-685A-38FD-22C7415DE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8DCCC-1261-7048-D912-4724DDBD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B9581-892B-796E-0E16-2EAA8F6A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39959-C4FE-3EE1-5DA4-BD764494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97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38F3-A3D1-4869-CC34-7091AD7F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0C7A7-356F-5890-C359-AAEAA220B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DF8AC-587F-BEBB-873A-97B087B3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41011-85BD-8895-5EA2-A81D57E9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CE3F-48C7-5E07-66FC-1644D6F2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3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3F8C-4A3D-16D9-D6B0-936669DC9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454C-DA66-9873-91FD-D616ED0DF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14081-F0A1-7D15-BBE0-A72AB9C82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CB0B8-D00B-B8D1-F649-03B2FE9E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A33EC-9B03-BEF1-D67A-F25F8270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4C802-6367-A920-3B24-C0429391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16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AF21-1056-EED8-34CC-F062FE3D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A694C-F71F-80B5-F52E-BEE382A88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2DA16-BBB9-EBEF-8BF0-E189729FB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30606-9659-8DEF-253B-0CE880336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7F3D3-D8BB-85D6-A7E9-CCB0D35C8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4C6D4-B03A-2A0B-B669-F86B3D32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BB768-5A5E-0DC2-9CBF-E5ABF558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D5789-62FD-586F-52E0-7A4765C5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37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5799-E66F-D7DF-DCEA-EA528860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DF888-0621-E524-5F40-B6F9064F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A8DC-4E44-F2AE-E480-3D02E95F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ADF8E-7B8D-5F92-C28E-32A42C88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96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F949F-547B-D638-72BE-35F07E40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FCC0D-1B1E-B07B-BB11-23597A68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77A63-5334-3DC8-DDD9-10AABFB6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73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0349-45FE-577B-3BD5-09591CEC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2164-ED36-0D8D-4741-774CF7048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84420-FEF0-0A1A-33F8-954760234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89A54-E37F-9060-F10E-AB1B4000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58CCC-734B-D02C-32B4-BE989157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CC59B-96AF-4D1E-3E75-31345BB0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37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F1EF-1E6D-188D-F70B-E129E7327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6F79D9-0AEE-93FE-CE74-79CB3DCA5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275B1-A610-1A4C-22C3-5D757498F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1F945-F76D-2DC3-8737-9C8CFBE1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B6CC5-4430-6FD5-694B-4D6D7230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B1BD1-35BB-34B3-B12B-4C518E29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00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6168-5CBB-4FEE-BECA-3E6781F8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62D14-399C-97BA-D09E-7682FCB11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3F82F-1571-F85A-9437-F787C58E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0DB7F-D5C7-7741-B84C-37410FF7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750BC-80F0-CD8B-0760-6FA1356E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88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4F632-F0E7-4B85-815F-B17098FC4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004AD-6552-D5D1-EBC4-095DAB074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6EDB-BF76-04B3-B71B-264B477A7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3BDC-E6FF-110D-7D50-5225CC53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BBA48-83B2-2E05-867C-25F3C0F5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11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7D480-1F48-3C5C-B241-E7673025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D1E88-5883-58FF-ADF6-A6BBA5E6E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0BF07-7287-9398-939B-4E84F42D7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8BA1F-8F06-4215-9B4F-D5994AB76C4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D5B0-B603-7013-22B8-F8D6C6EA0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B0028-DB40-5D16-A434-835DF13D7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69769-0264-46AB-82AB-237600C53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54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17370" y="2369956"/>
            <a:ext cx="8557260" cy="12852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lang="en-IN" sz="3600" dirty="0">
                <a:latin typeface="Times New Roman"/>
                <a:cs typeface="Times New Roman"/>
              </a:rPr>
              <a:t>ELL881 – Advanced LLMs</a:t>
            </a:r>
            <a:endParaRPr sz="3600" dirty="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  <a:spcBef>
                <a:spcPts val="640"/>
              </a:spcBef>
            </a:pPr>
            <a:r>
              <a:rPr lang="en-IN" sz="3600" b="1" spc="-45" dirty="0">
                <a:latin typeface="Times New Roman"/>
                <a:cs typeface="Times New Roman"/>
              </a:rPr>
              <a:t>Prof. Tanmoy Chakraborty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258" y="4015716"/>
            <a:ext cx="10815484" cy="1395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443865" indent="-5080" algn="ctr">
              <a:lnSpc>
                <a:spcPct val="125200"/>
              </a:lnSpc>
              <a:spcBef>
                <a:spcPts val="100"/>
              </a:spcBef>
            </a:pPr>
            <a:r>
              <a:rPr lang="en-IN" sz="2400" dirty="0">
                <a:latin typeface="Times New Roman"/>
                <a:cs typeface="Times New Roman"/>
              </a:rPr>
              <a:t>Project:- 2, </a:t>
            </a:r>
            <a:r>
              <a:rPr lang="en-IN" sz="2400" spc="-10" dirty="0">
                <a:latin typeface="Times New Roman"/>
                <a:cs typeface="Times New Roman"/>
              </a:rPr>
              <a:t>Group Name:- </a:t>
            </a:r>
            <a:r>
              <a:rPr lang="en-IN" sz="2400" spc="-10" dirty="0" err="1">
                <a:latin typeface="Times New Roman"/>
                <a:cs typeface="Times New Roman"/>
              </a:rPr>
              <a:t>C.Tech</a:t>
            </a:r>
            <a:r>
              <a:rPr lang="en-IN" sz="2400" spc="-10" dirty="0">
                <a:latin typeface="Times New Roman"/>
                <a:cs typeface="Times New Roman"/>
              </a:rPr>
              <a:t>-Z</a:t>
            </a:r>
          </a:p>
          <a:p>
            <a:pPr marL="452755" marR="443865" indent="-5080" algn="ctr">
              <a:lnSpc>
                <a:spcPct val="125200"/>
              </a:lnSpc>
              <a:spcBef>
                <a:spcPts val="100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Member 1 </a:t>
            </a:r>
            <a:r>
              <a:rPr sz="2400" spc="-10" dirty="0">
                <a:latin typeface="Times New Roman"/>
                <a:cs typeface="Times New Roman"/>
              </a:rPr>
              <a:t>Name:-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Animesh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Lohar</a:t>
            </a:r>
            <a:r>
              <a:rPr lang="en-IN" sz="2400" spc="-2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No:-</a:t>
            </a:r>
            <a:r>
              <a:rPr sz="2400" spc="-10" dirty="0">
                <a:latin typeface="Times New Roman"/>
                <a:cs typeface="Times New Roman"/>
              </a:rPr>
              <a:t> 2024EET2368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400" spc="-20" dirty="0">
                <a:latin typeface="Times New Roman"/>
                <a:cs typeface="Times New Roman"/>
              </a:rPr>
              <a:t>M.Tech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Technology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dirty="0"/>
              <a:t>Department</a:t>
            </a:r>
            <a:r>
              <a:rPr lang="en-IN" spc="-65" dirty="0"/>
              <a:t> </a:t>
            </a:r>
            <a:r>
              <a:rPr lang="en-IN" dirty="0"/>
              <a:t>of</a:t>
            </a:r>
            <a:r>
              <a:rPr lang="en-IN" spc="-40" dirty="0"/>
              <a:t> </a:t>
            </a:r>
            <a:r>
              <a:rPr lang="en-IN" dirty="0"/>
              <a:t>Electrical </a:t>
            </a:r>
            <a:r>
              <a:rPr lang="en-IN" spc="-10" dirty="0"/>
              <a:t>Engineering</a:t>
            </a:r>
            <a:endParaRPr spc="-1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3FA738-1E7D-3068-4B94-1C1ED807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784" y="690562"/>
            <a:ext cx="9412432" cy="1325563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Topics: Can You Trust the Facts?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Factuality in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Using 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421A-DFA7-759B-1233-700737D44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B0EF25-37F1-9C20-C224-7113B223C4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917525"/>
            <a:ext cx="9674942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DIALOCONAN dataset: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3,000 fictitious multi-turn dialogues between an online hater and an NGO. Dialogues cover 6 hate targets (Jews, LGBT+, Migrants, Muslims, POC, Women).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Factuality in </a:t>
            </a: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Hate speech spreads rapidly online, causing real-world harm. AI can be deployed to generate “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reasoned, factual responses that challenge hateful narratives at scale. When AI Counters Hate Speech, Does It Tell the Truth?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D7F9C31-56A9-1025-CADE-A31E1FA7C8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E9C7D11-78BE-60E4-B4A6-77E1C65EA088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31509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78F3-DF1F-D4B9-F831-22CBC6D2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6DB4-CD3C-E17D-6048-6A90BB8E1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17DA7D-E61A-0DFD-DC6A-7AA9B56BAD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787104"/>
            <a:ext cx="967494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Hate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requires effective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LLMs can generate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scale.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can we trust their factual accuracy?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specific internal mechanisms causing factual inaccuracies in LLM-generated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effective is Inference-Time Intervention in real-time factuality correction?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A85C845-F41E-ABB5-04DE-E243F76DCA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7035A8C-8A04-3F90-D3CF-2D274D9A5944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288626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611F-75A6-C38F-757C-6B54448A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F68D2-DBA2-9FC3-A2C2-F07AADA90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95D0C7-4DAF-9803-E747-973C7C9FEC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628694"/>
            <a:ext cx="9674942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 1: Pathways to Inaccuracies</a:t>
            </a:r>
          </a:p>
          <a:p>
            <a:pPr marL="914400" lvl="1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internal mechanisms in LLMs contribute to factually incorrect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Hypothesis 2: Intervention Effectiveness</a:t>
            </a:r>
          </a:p>
          <a:p>
            <a:pPr marL="914400" lvl="1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Inference-Time Intervention can correct factual inaccuracies in real-time.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factual inaccuracy pathways.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intervention techniques.</a:t>
            </a:r>
          </a:p>
          <a:p>
            <a:pPr marL="914400" lvl="1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reliability.</a:t>
            </a:r>
          </a:p>
          <a:p>
            <a:pPr marL="914400" lvl="1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26DFEC7-6B98-929A-56CA-52490763DD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4F5AA25-4CFD-6C49-D4BD-EC34023A639A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208331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D1DC-A704-208B-826F-F181809A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56C8-4410-5D17-D140-BDB048673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6C3FBB-216B-9933-2E14-E24E416383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58529" y="1916961"/>
            <a:ext cx="967494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1: Baseline Generation: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 BART-base fine-tuning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DIALOCONAN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Establish generation capability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2: Analysis &amp; Intervention: 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DialoGPT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-medium + RAG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Components: Factuality analysis, Evaluation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Test hypotheses systematically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16BD223-CE4E-E128-91FD-BAE9C06113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34B442F-7AAC-1B74-541C-0BD56FB50765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122072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C6731-DD88-B160-C00D-57A1A2A8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843-F9F5-ECA0-9AE5-076A88CC0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613860"/>
            <a:ext cx="9674942" cy="764202"/>
          </a:xfrm>
        </p:spPr>
        <p:txBody>
          <a:bodyPr>
            <a:normAutofit/>
          </a:bodyPr>
          <a:lstStyle/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Implementation: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92F75E-BAC4-51C7-0E98-13F04A39E9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877351"/>
            <a:ext cx="9674942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DIALOCONAN dataset with hate speech-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pairs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target groups: MUSLIMS,LGBT+,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WOMEN,JEWS,etc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dialogue processing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Automatic: BLEU, ROUGE,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Factuality: Custom scoring, hallucination detection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Quality: Specificity, consistency, length analysis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39E9B5A-F28E-99AA-DD6E-BBACC083DA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60EC27C-9725-F215-5C54-BBAE5A33BC6A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32990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55E11-4AB7-8978-6CBA-BED001E6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8651D-94D4-A3C6-8ABB-098BF7B48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2503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Code 1:-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5ED7B4-0DB7-EE55-AC10-0A3D8F3A4C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843950"/>
            <a:ext cx="967494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BLEU: 0.0000 (Complete failure)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ROUGE-1: 0.1837 (Very poor)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Score: 0.0000 (No semantic similarity)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Loss: 3.6469 (High - model struggling)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Examples: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“Women don't belong in leadership”.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“There are a lot of reasons why women don't get elected”.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313F54D-4636-137D-BFE0-26F19BF2F0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3A83BEA-2932-458B-EDA8-D79A64E84FB0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322979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D133-DA0A-2F42-2D92-9EB6B4A1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74A6-2395-F86D-9999-2C17E3CC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Code 2:-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344E9E-EC09-95BC-8BD1-C87C02A6BC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436658"/>
            <a:ext cx="9674942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Factuality: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+ 4.4%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Length: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+ 27.13%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+ 23.3%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“Generate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for: Hater: I think that all Muslims are just sick and have a negative impact on Western society.\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 don't want to accept that Islam is a religion of peace. Islam is a disease infecting the entire world.\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MUSLIMS\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nCounterspeech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Islam is a religion of peace.”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“Generate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for: Hater: feminists are angry women\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Women are subhuman, they don't have the brain to fight for themselves or for men.\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WOMEN\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nCounterspeech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womensrights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“Generate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for: Hater: Who the fuck are you? We are gutful sick of Vagina Misandrists trying to undermine White powerful makes, when they themselves are just envious, incompetent and useless.\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WOMEN\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nCounterspeech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Who are you?”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A5656E1-36BD-8851-B576-F28E6D409E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0142C11-9AB3-BEB8-F283-EF9AEC10735D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307519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5F36-D0F6-B7D0-CB26-7E2E3CD2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D1FB-3DCD-EF31-EAFF-2BC2CBC44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03ECC-882F-E0EA-0E6C-128B23CE72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2009857"/>
            <a:ext cx="967494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Factual inaccuracies are prevalent in LLM-generated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pathways exist through simplification, repetition, and vagueness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Interventions show promise but need significant refinement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models struggle with evidence-based argumentation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approaches needed for trustworthy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29F2D53-7F4F-0F2E-A636-B4671368AF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1366CED-0369-720A-9D98-0DAB8C482176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2199291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E16B-4848-801F-5379-53DD88BB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E74D-C02D-1713-1D19-98ABDE7D3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93098"/>
            <a:ext cx="9674942" cy="745767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E52536-FEE8-25BC-4918-D76EA8579C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9535" y="1640317"/>
            <a:ext cx="967494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Bonaldi et al. (2022).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Human–Machine Collaboration for Building a Dialogue Dataset for Hate Speech Countering (DIALOCONAN)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 et al. (2019). BART: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Sequence-to-Sequence Pre-training for NLG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F1 = –0.5261: Lin (2004). ROUGE: A Package for Automatic Evaluation of Summaries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Mathew, B., et al. (2021).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Dialogue Generation for Countering Hate Speech."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Web Conference 2021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Qian, J., et al. (2022).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"Challenges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Counterspeech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Against Hate Speech."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of EMNLP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Y., et al. (2023).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"Benchmarking Large Language Models on Factual Accuracy and Hallucination."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Machine Intelligence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0565E6D-3A47-CF7E-F06F-C796A009A45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3493388-6C3E-AA13-FE9D-58661976A4E5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</p:spTree>
    <p:extLst>
      <p:ext uri="{BB962C8B-B14F-4D97-AF65-F5344CB8AC3E}">
        <p14:creationId xmlns:p14="http://schemas.microsoft.com/office/powerpoint/2010/main" val="13508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2A94-C137-A7CD-97CE-849FCB9B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B9890A12-6500-44A9-1444-2C4E1212D7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F8EF8B64-B30D-5374-C11D-071FC5DC0666}"/>
              </a:ext>
            </a:extLst>
          </p:cNvPr>
          <p:cNvSpPr txBox="1">
            <a:spLocks/>
          </p:cNvSpPr>
          <p:nvPr/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200" b="1" i="0" kern="1200">
                <a:solidFill>
                  <a:srgbClr val="888888"/>
                </a:solidFill>
                <a:latin typeface="Palatino Linotype"/>
                <a:ea typeface="+mn-ea"/>
                <a:cs typeface="Palatino Linotype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IN"/>
              <a:t>Department</a:t>
            </a:r>
            <a:r>
              <a:rPr lang="en-IN" spc="-65"/>
              <a:t> </a:t>
            </a:r>
            <a:r>
              <a:rPr lang="en-IN"/>
              <a:t>of</a:t>
            </a:r>
            <a:r>
              <a:rPr lang="en-IN" spc="-40"/>
              <a:t> </a:t>
            </a:r>
            <a:r>
              <a:rPr lang="en-IN"/>
              <a:t>Electrical </a:t>
            </a:r>
            <a:r>
              <a:rPr lang="en-IN" spc="-10"/>
              <a:t>Engineering</a:t>
            </a:r>
            <a:endParaRPr lang="en-IN" spc="-1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871706-EDD5-901F-67CE-0654E163C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8302"/>
            <a:ext cx="9144000" cy="108139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4566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788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Topics: Can You Trust the Facts? Analyzing Factuality in Counterspeech Generation Using Large Language Models</vt:lpstr>
      <vt:lpstr>Introduction:-</vt:lpstr>
      <vt:lpstr>Problem Statement:-</vt:lpstr>
      <vt:lpstr>Objectives :-</vt:lpstr>
      <vt:lpstr>Methodology Overview</vt:lpstr>
      <vt:lpstr>Experimental Setup &amp; Implementation:</vt:lpstr>
      <vt:lpstr>Results For Code 1:-</vt:lpstr>
      <vt:lpstr>Results For Code 2:-</vt:lpstr>
      <vt:lpstr> Conclusion:-</vt:lpstr>
      <vt:lpstr> References:-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Animesh Lohar</dc:creator>
  <cp:lastModifiedBy>Animesh Lohar</cp:lastModifiedBy>
  <cp:revision>29</cp:revision>
  <dcterms:created xsi:type="dcterms:W3CDTF">2025-05-10T06:32:23Z</dcterms:created>
  <dcterms:modified xsi:type="dcterms:W3CDTF">2025-11-26T04:58:33Z</dcterms:modified>
</cp:coreProperties>
</file>