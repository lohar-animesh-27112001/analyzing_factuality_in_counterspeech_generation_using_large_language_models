
<file path=[Content_Types].xml><?xml version="1.0" encoding="utf-8"?>
<Types xmlns="http://schemas.openxmlformats.org/package/2006/content-types">
  <Default Extension="jpeg" ContentType="image/jpeg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60" r:id="rId5"/>
    <p:sldId id="259" r:id="rId6"/>
    <p:sldId id="261" r:id="rId7"/>
    <p:sldId id="264" r:id="rId8"/>
    <p:sldId id="263" r:id="rId9"/>
    <p:sldId id="266" r:id="rId10"/>
    <p:sldId id="262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67B2F-A3A5-1058-4A75-1E6DF0B5F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9C1B82-0244-A5F8-7E9C-D67F83065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B4973-2118-86A1-DA23-B7DC35E81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8BA1F-8F06-4215-9B4F-D5994AB76C4B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34C70-BA41-ABB5-9A70-64D113B4A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894BF-EA9A-4850-C19F-CBA949CA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69769-0264-46AB-82AB-237600C53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7255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374AA-9AA7-19BA-563D-026C90352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CFDC4-6CD4-685A-38FD-22C7415DE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8DCCC-1261-7048-D912-4724DDBDE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8BA1F-8F06-4215-9B4F-D5994AB76C4B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B9581-892B-796E-0E16-2EAA8F6AC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39959-C4FE-3EE1-5DA4-BD7644946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69769-0264-46AB-82AB-237600C53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8974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A38F3-A3D1-4869-CC34-7091AD7F3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0C7A7-356F-5890-C359-AAEAA220B8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CDF8AC-587F-BEBB-873A-97B087B3B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8BA1F-8F06-4215-9B4F-D5994AB76C4B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41011-85BD-8895-5EA2-A81D57E99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CE3F-48C7-5E07-66FC-1644D6F2F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69769-0264-46AB-82AB-237600C53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633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D3F8C-4A3D-16D9-D6B0-936669DC9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4454C-DA66-9873-91FD-D616ED0DF2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214081-F0A1-7D15-BBE0-A72AB9C82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FCB0B8-D00B-B8D1-F649-03B2FE9E3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8BA1F-8F06-4215-9B4F-D5994AB76C4B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5A33EC-9B03-BEF1-D67A-F25F8270A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B4C802-6367-A920-3B24-C04293918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69769-0264-46AB-82AB-237600C53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6164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CAF21-1056-EED8-34CC-F062FE3DB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6A694C-F71F-80B5-F52E-BEE382A888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62DA16-BBB9-EBEF-8BF0-E189729FB4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330606-9659-8DEF-253B-0CE8803365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37F3D3-D8BB-85D6-A7E9-CCB0D35C8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44C6D4-B03A-2A0B-B669-F86B3D322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8BA1F-8F06-4215-9B4F-D5994AB76C4B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7BB768-5A5E-0DC2-9CBF-E5ABF558F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9D5789-62FD-586F-52E0-7A4765C51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69769-0264-46AB-82AB-237600C53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1374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95799-E66F-D7DF-DCEA-EA5288600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DF888-0621-E524-5F40-B6F9064FF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8BA1F-8F06-4215-9B4F-D5994AB76C4B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BA8DC-4E44-F2AE-E480-3D02E95F5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FADF8E-7B8D-5F92-C28E-32A42C881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69769-0264-46AB-82AB-237600C53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7963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8F949F-547B-D638-72BE-35F07E401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8BA1F-8F06-4215-9B4F-D5994AB76C4B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AFCC0D-1B1E-B07B-BB11-23597A68C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77A63-5334-3DC8-DDD9-10AABFB63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69769-0264-46AB-82AB-237600C53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1736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90349-45FE-577B-3BD5-09591CEC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A2164-ED36-0D8D-4741-774CF7048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684420-FEF0-0A1A-33F8-9547602340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889A54-E37F-9060-F10E-AB1B4000F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8BA1F-8F06-4215-9B4F-D5994AB76C4B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C58CCC-734B-D02C-32B4-BE989157E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ACC59B-96AF-4D1E-3E75-31345BB0C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69769-0264-46AB-82AB-237600C53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0370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AF1EF-1E6D-188D-F70B-E129E7327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6F79D9-0AEE-93FE-CE74-79CB3DCA53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9275B1-A610-1A4C-22C3-5D757498F7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11F945-F76D-2DC3-8737-9C8CFBE1C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8BA1F-8F06-4215-9B4F-D5994AB76C4B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FB6CC5-4430-6FD5-694B-4D6D7230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1B1BD1-35BB-34B3-B12B-4C518E293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69769-0264-46AB-82AB-237600C53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8006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76168-5CBB-4FEE-BECA-3E6781F8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D62D14-399C-97BA-D09E-7682FCB118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3F82F-1571-F85A-9437-F787C58E7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8BA1F-8F06-4215-9B4F-D5994AB76C4B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0DB7F-D5C7-7741-B84C-37410FF7C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6750BC-80F0-CD8B-0760-6FA1356E7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69769-0264-46AB-82AB-237600C53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0881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C4F632-F0E7-4B85-815F-B17098FC4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5004AD-6552-D5D1-EBC4-095DAB074A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66EDB-BF76-04B3-B71B-264B477A7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8BA1F-8F06-4215-9B4F-D5994AB76C4B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CE3BDC-E6FF-110D-7D50-5225CC538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BBA48-83B2-2E05-867C-25F3C0F5F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69769-0264-46AB-82AB-237600C53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8116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77D480-1F48-3C5C-B241-E7673025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9D1E88-5883-58FF-ADF6-A6BBA5E6E1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0BF07-7287-9398-939B-4E84F42D7B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08BA1F-8F06-4215-9B4F-D5994AB76C4B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CD5B0-B603-7013-22B8-F8D6C6EA01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5B0028-DB40-5D16-A434-835DF13D77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69769-0264-46AB-82AB-237600C53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0542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817370" y="2369956"/>
            <a:ext cx="8557260" cy="1285240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735"/>
              </a:spcBef>
            </a:pPr>
            <a:r>
              <a:rPr lang="en-IN" sz="3600" dirty="0">
                <a:latin typeface="Times New Roman"/>
                <a:cs typeface="Times New Roman"/>
              </a:rPr>
              <a:t>ELL881 – Advanced LLMs</a:t>
            </a:r>
            <a:endParaRPr sz="3600" dirty="0">
              <a:latin typeface="Times New Roman"/>
              <a:cs typeface="Times New Roman"/>
            </a:endParaRPr>
          </a:p>
          <a:p>
            <a:pPr marL="5715" algn="ctr">
              <a:lnSpc>
                <a:spcPct val="100000"/>
              </a:lnSpc>
              <a:spcBef>
                <a:spcPts val="640"/>
              </a:spcBef>
            </a:pPr>
            <a:r>
              <a:rPr lang="en-IN" sz="3600" b="1" spc="-45" dirty="0">
                <a:latin typeface="Times New Roman"/>
                <a:cs typeface="Times New Roman"/>
              </a:rPr>
              <a:t>Prof. Tanmoy Chakraborty</a:t>
            </a:r>
            <a:endParaRPr sz="36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258" y="4015716"/>
            <a:ext cx="10815484" cy="13952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2755" marR="443865" indent="-5080" algn="ctr">
              <a:lnSpc>
                <a:spcPct val="125200"/>
              </a:lnSpc>
              <a:spcBef>
                <a:spcPts val="100"/>
              </a:spcBef>
            </a:pPr>
            <a:r>
              <a:rPr lang="en-IN" sz="2400" dirty="0">
                <a:latin typeface="Times New Roman"/>
                <a:cs typeface="Times New Roman"/>
              </a:rPr>
              <a:t>Project:- 2, </a:t>
            </a:r>
            <a:r>
              <a:rPr lang="en-IN" sz="2400" spc="-10" dirty="0">
                <a:latin typeface="Times New Roman"/>
                <a:cs typeface="Times New Roman"/>
              </a:rPr>
              <a:t>Group Name:- </a:t>
            </a:r>
            <a:r>
              <a:rPr lang="en-IN" sz="2400" spc="-10" dirty="0" err="1">
                <a:latin typeface="Times New Roman"/>
                <a:cs typeface="Times New Roman"/>
              </a:rPr>
              <a:t>C.Tech</a:t>
            </a:r>
            <a:r>
              <a:rPr lang="en-IN" sz="2400" spc="-10" dirty="0">
                <a:latin typeface="Times New Roman"/>
                <a:cs typeface="Times New Roman"/>
              </a:rPr>
              <a:t>-Z</a:t>
            </a:r>
          </a:p>
          <a:p>
            <a:pPr marL="452755" marR="443865" indent="-5080" algn="ctr">
              <a:lnSpc>
                <a:spcPct val="125200"/>
              </a:lnSpc>
              <a:spcBef>
                <a:spcPts val="100"/>
              </a:spcBef>
            </a:pPr>
            <a:r>
              <a:rPr lang="en-IN" sz="2400" spc="-10" dirty="0">
                <a:latin typeface="Times New Roman"/>
                <a:cs typeface="Times New Roman"/>
              </a:rPr>
              <a:t>Member 1 </a:t>
            </a:r>
            <a:r>
              <a:rPr sz="2400" spc="-10" dirty="0">
                <a:latin typeface="Times New Roman"/>
                <a:cs typeface="Times New Roman"/>
              </a:rPr>
              <a:t>Name:-</a:t>
            </a:r>
            <a:r>
              <a:rPr sz="2400" spc="-1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Animesh</a:t>
            </a:r>
            <a:r>
              <a:rPr sz="2400" spc="20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Lohar</a:t>
            </a:r>
            <a:r>
              <a:rPr lang="en-IN" sz="2400" spc="-20" dirty="0">
                <a:latin typeface="Times New Roman"/>
                <a:cs typeface="Times New Roman"/>
              </a:rPr>
              <a:t>,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Entry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No:-</a:t>
            </a:r>
            <a:r>
              <a:rPr sz="2400" spc="-10" dirty="0">
                <a:latin typeface="Times New Roman"/>
                <a:cs typeface="Times New Roman"/>
              </a:rPr>
              <a:t> 2024EET2368</a:t>
            </a:r>
            <a:endParaRPr sz="2400"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725"/>
              </a:spcBef>
            </a:pPr>
            <a:r>
              <a:rPr sz="2400" spc="-20" dirty="0">
                <a:latin typeface="Times New Roman"/>
                <a:cs typeface="Times New Roman"/>
              </a:rPr>
              <a:t>M.Tech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Computer</a:t>
            </a:r>
            <a:r>
              <a:rPr sz="2400" spc="-10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Technology</a:t>
            </a:r>
            <a:endParaRPr sz="2400" dirty="0">
              <a:latin typeface="Times New Roman"/>
              <a:cs typeface="Times New Roman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29950" y="257175"/>
            <a:ext cx="866775" cy="86677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xfrm>
            <a:off x="4789170" y="6446137"/>
            <a:ext cx="2624454" cy="207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200" b="1" i="0">
                <a:solidFill>
                  <a:srgbClr val="888888"/>
                </a:solidFill>
                <a:latin typeface="Palatino Linotype"/>
                <a:cs typeface="Palatino Linotype"/>
              </a:defRPr>
            </a:lvl1pPr>
          </a:lstStyle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IN" dirty="0"/>
              <a:t>Department</a:t>
            </a:r>
            <a:r>
              <a:rPr lang="en-IN" spc="-65" dirty="0"/>
              <a:t> </a:t>
            </a:r>
            <a:r>
              <a:rPr lang="en-IN" dirty="0"/>
              <a:t>of</a:t>
            </a:r>
            <a:r>
              <a:rPr lang="en-IN" spc="-40" dirty="0"/>
              <a:t> </a:t>
            </a:r>
            <a:r>
              <a:rPr lang="en-IN" dirty="0"/>
              <a:t>Electrical </a:t>
            </a:r>
            <a:r>
              <a:rPr lang="en-IN" spc="-10" dirty="0"/>
              <a:t>Engineering</a:t>
            </a:r>
            <a:endParaRPr spc="-1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3FA738-1E7D-3068-4B94-1C1ED807C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9784" y="690562"/>
            <a:ext cx="9412432" cy="1325563"/>
          </a:xfrm>
        </p:spPr>
        <p:txBody>
          <a:bodyPr>
            <a:noAutofit/>
          </a:bodyPr>
          <a:lstStyle/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Topics: Can You Trust the Facts?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Analyzing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Factuality in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Generation Using Large Language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1421A-DFA7-759B-1233-700737D44B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9535" y="493098"/>
            <a:ext cx="9674942" cy="745767"/>
          </a:xfrm>
        </p:spPr>
        <p:txBody>
          <a:bodyPr>
            <a:normAutofit fontScale="90000"/>
          </a:bodyPr>
          <a:lstStyle/>
          <a:p>
            <a:pPr algn="just"/>
            <a:r>
              <a:rPr lang="en-IN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Introduction:-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AB0EF25-37F1-9C20-C224-7113B223C4CB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99535" y="1917525"/>
            <a:ext cx="9674942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DIALOCONAN dataset: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over 3,000 fictitious multi-turn dialogues between an online hater and an NGO. Dialogues cover 6 hate targets (Jews, LGBT+, Migrants, Muslims, POC, Women).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Analyzing Factuality in </a:t>
            </a:r>
            <a:r>
              <a:rPr kumimoji="0" lang="en-US" altLang="en-US" sz="2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r>
              <a:rPr kumimoji="0" lang="en-US" altLang="en-US" sz="2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task: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Hate speech spreads rapidly online, causing real-world harm. AI can be deployed to generate “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r>
              <a:rPr lang="en-US" alt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reasoned, factual responses that challenge hateful narratives at scale. When AI Counters Hate Speech, Does It Tell the Truth?</a:t>
            </a: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8D7F9C31-56A9-1025-CADE-A31E1FA7C8C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29950" y="257175"/>
            <a:ext cx="866775" cy="866775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AE9C7D11-78BE-60E4-B4A6-77E1C65EA088}"/>
              </a:ext>
            </a:extLst>
          </p:cNvPr>
          <p:cNvSpPr txBox="1">
            <a:spLocks/>
          </p:cNvSpPr>
          <p:nvPr/>
        </p:nvSpPr>
        <p:spPr>
          <a:xfrm>
            <a:off x="4789170" y="6446137"/>
            <a:ext cx="2624454" cy="207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 kern="0"/>
            </a:defPPr>
            <a:lvl1pPr marL="0" algn="l" defTabSz="914400" rtl="0" eaLnBrk="1" latinLnBrk="0" hangingPunct="1">
              <a:defRPr sz="1200" b="1" i="0" kern="1200">
                <a:solidFill>
                  <a:srgbClr val="888888"/>
                </a:solidFill>
                <a:latin typeface="Palatino Linotype"/>
                <a:ea typeface="+mn-ea"/>
                <a:cs typeface="Palatino Linotype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5"/>
              </a:spcBef>
            </a:pPr>
            <a:r>
              <a:rPr lang="en-IN"/>
              <a:t>Department</a:t>
            </a:r>
            <a:r>
              <a:rPr lang="en-IN" spc="-65"/>
              <a:t> </a:t>
            </a:r>
            <a:r>
              <a:rPr lang="en-IN"/>
              <a:t>of</a:t>
            </a:r>
            <a:r>
              <a:rPr lang="en-IN" spc="-40"/>
              <a:t> </a:t>
            </a:r>
            <a:r>
              <a:rPr lang="en-IN"/>
              <a:t>Electrical </a:t>
            </a:r>
            <a:r>
              <a:rPr lang="en-IN" spc="-10"/>
              <a:t>Engineering</a:t>
            </a:r>
            <a:endParaRPr lang="en-IN" spc="-10" dirty="0"/>
          </a:p>
        </p:txBody>
      </p:sp>
    </p:spTree>
    <p:extLst>
      <p:ext uri="{BB962C8B-B14F-4D97-AF65-F5344CB8AC3E}">
        <p14:creationId xmlns:p14="http://schemas.microsoft.com/office/powerpoint/2010/main" val="315099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78F3-DF1F-D4B9-F831-22CBC6D2E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D6DB4-CD3C-E17D-6048-6A90BB8E1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9535" y="493098"/>
            <a:ext cx="9674942" cy="745767"/>
          </a:xfrm>
        </p:spPr>
        <p:txBody>
          <a:bodyPr>
            <a:normAutofit fontScale="90000"/>
          </a:bodyPr>
          <a:lstStyle/>
          <a:p>
            <a:pPr algn="just"/>
            <a:r>
              <a:rPr lang="en-IN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Statement:-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517DA7D-E61A-0DFD-DC6A-7AA9B56BAD7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99535" y="1905506"/>
            <a:ext cx="9674942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Hate speech requires effective </a:t>
            </a:r>
            <a:r>
              <a:rPr kumimoji="0" lang="en-US" altLang="en-US" sz="3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LLMs can generate </a:t>
            </a:r>
            <a:r>
              <a:rPr kumimoji="0" lang="en-US" altLang="en-US" sz="3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at scale.</a:t>
            </a:r>
          </a:p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But can we trust their factual accuracy?</a:t>
            </a:r>
          </a:p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How factual is AI-generated </a:t>
            </a:r>
            <a:r>
              <a:rPr kumimoji="0" lang="en-US" altLang="en-US" sz="3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What causes factual inaccuracies?</a:t>
            </a:r>
          </a:p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Can we fix these inaccuracies in real-time?</a:t>
            </a: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8A85C845-F41E-ABB5-04DE-E243F76DCAD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29950" y="257175"/>
            <a:ext cx="866775" cy="866775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A7035A8C-8A04-3F90-D3CF-2D274D9A5944}"/>
              </a:ext>
            </a:extLst>
          </p:cNvPr>
          <p:cNvSpPr txBox="1">
            <a:spLocks/>
          </p:cNvSpPr>
          <p:nvPr/>
        </p:nvSpPr>
        <p:spPr>
          <a:xfrm>
            <a:off x="4789170" y="6446137"/>
            <a:ext cx="2624454" cy="207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 kern="0"/>
            </a:defPPr>
            <a:lvl1pPr marL="0" algn="l" defTabSz="914400" rtl="0" eaLnBrk="1" latinLnBrk="0" hangingPunct="1">
              <a:defRPr sz="1200" b="1" i="0" kern="1200">
                <a:solidFill>
                  <a:srgbClr val="888888"/>
                </a:solidFill>
                <a:latin typeface="Palatino Linotype"/>
                <a:ea typeface="+mn-ea"/>
                <a:cs typeface="Palatino Linotype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5"/>
              </a:spcBef>
            </a:pPr>
            <a:r>
              <a:rPr lang="en-IN"/>
              <a:t>Department</a:t>
            </a:r>
            <a:r>
              <a:rPr lang="en-IN" spc="-65"/>
              <a:t> </a:t>
            </a:r>
            <a:r>
              <a:rPr lang="en-IN"/>
              <a:t>of</a:t>
            </a:r>
            <a:r>
              <a:rPr lang="en-IN" spc="-40"/>
              <a:t> </a:t>
            </a:r>
            <a:r>
              <a:rPr lang="en-IN"/>
              <a:t>Electrical </a:t>
            </a:r>
            <a:r>
              <a:rPr lang="en-IN" spc="-10"/>
              <a:t>Engineering</a:t>
            </a:r>
            <a:endParaRPr lang="en-IN" spc="-10" dirty="0"/>
          </a:p>
        </p:txBody>
      </p:sp>
    </p:spTree>
    <p:extLst>
      <p:ext uri="{BB962C8B-B14F-4D97-AF65-F5344CB8AC3E}">
        <p14:creationId xmlns:p14="http://schemas.microsoft.com/office/powerpoint/2010/main" val="288626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611F-75A6-C38F-757C-6B54448AE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F68D2-DBA2-9FC3-A2C2-F07AADA90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9535" y="493098"/>
            <a:ext cx="9674942" cy="745767"/>
          </a:xfrm>
        </p:spPr>
        <p:txBody>
          <a:bodyPr>
            <a:normAutofit fontScale="90000"/>
          </a:bodyPr>
          <a:lstStyle/>
          <a:p>
            <a:pPr algn="just"/>
            <a:r>
              <a:rPr lang="en-IN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:-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095D0C7-4DAF-9803-E747-973C7C9FECA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99535" y="1628694"/>
            <a:ext cx="9674942" cy="44319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Hypothesis 1: Pathways to Inaccuracies</a:t>
            </a:r>
          </a:p>
          <a:p>
            <a:pPr marL="914400" lvl="1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Specific internal mechanisms in LLMs contribute to factually incorrect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Context Hypothesis 2: Intervention Effectiveness</a:t>
            </a:r>
          </a:p>
          <a:p>
            <a:pPr marL="914400" lvl="1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Inference-Time Intervention can correct factual inaccuracies in real-time.</a:t>
            </a:r>
          </a:p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2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Key Objectives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914400" lvl="1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Identify factual inaccuracy pathways.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intervention techniques.</a:t>
            </a:r>
          </a:p>
          <a:p>
            <a:pPr marL="914400" lvl="1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reliability.</a:t>
            </a:r>
          </a:p>
          <a:p>
            <a:pPr marL="914400" lvl="1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endParaRPr kumimoji="0" lang="en-US" altLang="en-US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D26DFEC7-6B98-929A-56CA-52490763DD3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29950" y="257175"/>
            <a:ext cx="866775" cy="866775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44F5AA25-4CFD-6C49-D4BD-EC34023A639A}"/>
              </a:ext>
            </a:extLst>
          </p:cNvPr>
          <p:cNvSpPr txBox="1">
            <a:spLocks/>
          </p:cNvSpPr>
          <p:nvPr/>
        </p:nvSpPr>
        <p:spPr>
          <a:xfrm>
            <a:off x="4789170" y="6446137"/>
            <a:ext cx="2624454" cy="207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 kern="0"/>
            </a:defPPr>
            <a:lvl1pPr marL="0" algn="l" defTabSz="914400" rtl="0" eaLnBrk="1" latinLnBrk="0" hangingPunct="1">
              <a:defRPr sz="1200" b="1" i="0" kern="1200">
                <a:solidFill>
                  <a:srgbClr val="888888"/>
                </a:solidFill>
                <a:latin typeface="Palatino Linotype"/>
                <a:ea typeface="+mn-ea"/>
                <a:cs typeface="Palatino Linotype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5"/>
              </a:spcBef>
            </a:pPr>
            <a:r>
              <a:rPr lang="en-IN"/>
              <a:t>Department</a:t>
            </a:r>
            <a:r>
              <a:rPr lang="en-IN" spc="-65"/>
              <a:t> </a:t>
            </a:r>
            <a:r>
              <a:rPr lang="en-IN"/>
              <a:t>of</a:t>
            </a:r>
            <a:r>
              <a:rPr lang="en-IN" spc="-40"/>
              <a:t> </a:t>
            </a:r>
            <a:r>
              <a:rPr lang="en-IN"/>
              <a:t>Electrical </a:t>
            </a:r>
            <a:r>
              <a:rPr lang="en-IN" spc="-10"/>
              <a:t>Engineering</a:t>
            </a:r>
            <a:endParaRPr lang="en-IN" spc="-10" dirty="0"/>
          </a:p>
        </p:txBody>
      </p:sp>
    </p:spTree>
    <p:extLst>
      <p:ext uri="{BB962C8B-B14F-4D97-AF65-F5344CB8AC3E}">
        <p14:creationId xmlns:p14="http://schemas.microsoft.com/office/powerpoint/2010/main" val="2083310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D1DC-A704-208B-826F-F181809A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356C8-4410-5D17-D140-BDB048673E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9535" y="493098"/>
            <a:ext cx="9674942" cy="745767"/>
          </a:xfrm>
        </p:spPr>
        <p:txBody>
          <a:bodyPr>
            <a:normAutofit fontScale="90000"/>
          </a:bodyPr>
          <a:lstStyle/>
          <a:p>
            <a:pPr algn="just"/>
            <a:r>
              <a:rPr lang="en-IN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26C3FBB-216B-9933-2E14-E24E4163838B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99535" y="1801111"/>
            <a:ext cx="9674942" cy="37087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Code 1: Baseline Generation:</a:t>
            </a:r>
          </a:p>
          <a:p>
            <a:pPr marL="800100" lvl="1" indent="-3429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Model: BART-base fine-tuning</a:t>
            </a:r>
          </a:p>
          <a:p>
            <a:pPr marL="800100" lvl="1" indent="-3429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 DIALOCONAN</a:t>
            </a:r>
          </a:p>
          <a:p>
            <a:pPr marL="800100" lvl="1" indent="-3429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Goal: Establish generation capability</a:t>
            </a:r>
          </a:p>
          <a:p>
            <a:pPr marL="800100" lvl="1" indent="-3429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Code 2: Analysis &amp; Intervention: </a:t>
            </a:r>
          </a:p>
          <a:p>
            <a:pPr marL="800100" lvl="1" indent="-3429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Model: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DialoGPT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-medium + RAG</a:t>
            </a:r>
          </a:p>
          <a:p>
            <a:pPr marL="800100" lvl="1" indent="-3429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Components: Factuality analysis, Evaluation</a:t>
            </a:r>
          </a:p>
          <a:p>
            <a:pPr marL="800100" lvl="1" indent="-3429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Goal: Test hypotheses systematically</a:t>
            </a: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916BD223-CE4E-E128-91FD-BAE9C061136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29950" y="257175"/>
            <a:ext cx="866775" cy="866775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234B442F-7AAC-1B74-541C-0BD56FB50765}"/>
              </a:ext>
            </a:extLst>
          </p:cNvPr>
          <p:cNvSpPr txBox="1">
            <a:spLocks/>
          </p:cNvSpPr>
          <p:nvPr/>
        </p:nvSpPr>
        <p:spPr>
          <a:xfrm>
            <a:off x="4789170" y="6446137"/>
            <a:ext cx="2624454" cy="207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 kern="0"/>
            </a:defPPr>
            <a:lvl1pPr marL="0" algn="l" defTabSz="914400" rtl="0" eaLnBrk="1" latinLnBrk="0" hangingPunct="1">
              <a:defRPr sz="1200" b="1" i="0" kern="1200">
                <a:solidFill>
                  <a:srgbClr val="888888"/>
                </a:solidFill>
                <a:latin typeface="Palatino Linotype"/>
                <a:ea typeface="+mn-ea"/>
                <a:cs typeface="Palatino Linotype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5"/>
              </a:spcBef>
            </a:pPr>
            <a:r>
              <a:rPr lang="en-IN"/>
              <a:t>Department</a:t>
            </a:r>
            <a:r>
              <a:rPr lang="en-IN" spc="-65"/>
              <a:t> </a:t>
            </a:r>
            <a:r>
              <a:rPr lang="en-IN"/>
              <a:t>of</a:t>
            </a:r>
            <a:r>
              <a:rPr lang="en-IN" spc="-40"/>
              <a:t> </a:t>
            </a:r>
            <a:r>
              <a:rPr lang="en-IN"/>
              <a:t>Electrical </a:t>
            </a:r>
            <a:r>
              <a:rPr lang="en-IN" spc="-10"/>
              <a:t>Engineering</a:t>
            </a:r>
            <a:endParaRPr lang="en-IN" spc="-10" dirty="0"/>
          </a:p>
        </p:txBody>
      </p:sp>
    </p:spTree>
    <p:extLst>
      <p:ext uri="{BB962C8B-B14F-4D97-AF65-F5344CB8AC3E}">
        <p14:creationId xmlns:p14="http://schemas.microsoft.com/office/powerpoint/2010/main" val="1220720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C6731-DD88-B160-C00D-57A1A2A8E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88843-F9F5-ECA0-9AE5-076A88CC04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9535" y="613860"/>
            <a:ext cx="9674942" cy="764202"/>
          </a:xfrm>
        </p:spPr>
        <p:txBody>
          <a:bodyPr>
            <a:normAutofit/>
          </a:bodyPr>
          <a:lstStyle/>
          <a:p>
            <a:pPr algn="just"/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Setup &amp; Implementation: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92F75E-BAC4-51C7-0E98-13F04A39E92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99535" y="1877351"/>
            <a:ext cx="9674942" cy="35702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Processing: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DIALOCONAN dataset with hate speech-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pairs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en-US" alt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target groups: MUSLIMS,LGBT+,</a:t>
            </a:r>
            <a:r>
              <a:rPr lang="en-US" alt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WOMEN,JEWS,etc</a:t>
            </a:r>
            <a:r>
              <a:rPr lang="en-US" alt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en-US" alt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Context-aware dialogue processing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Metrics: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Automatic: BLEU, ROUGE,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BERTScore</a:t>
            </a:r>
            <a:endParaRPr kumimoji="0" lang="en-US" altLang="en-US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Factuality: Custom scoring, hallucination detection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Quality: Specificity, consistency, length analysis</a:t>
            </a: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A39E9B5A-F28E-99AA-DD6E-BBACC083DA1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29950" y="257175"/>
            <a:ext cx="866775" cy="866775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360EC27C-9725-F215-5C54-BBAE5A33BC6A}"/>
              </a:ext>
            </a:extLst>
          </p:cNvPr>
          <p:cNvSpPr txBox="1">
            <a:spLocks/>
          </p:cNvSpPr>
          <p:nvPr/>
        </p:nvSpPr>
        <p:spPr>
          <a:xfrm>
            <a:off x="4789170" y="6446137"/>
            <a:ext cx="2624454" cy="207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 kern="0"/>
            </a:defPPr>
            <a:lvl1pPr marL="0" algn="l" defTabSz="914400" rtl="0" eaLnBrk="1" latinLnBrk="0" hangingPunct="1">
              <a:defRPr sz="1200" b="1" i="0" kern="1200">
                <a:solidFill>
                  <a:srgbClr val="888888"/>
                </a:solidFill>
                <a:latin typeface="Palatino Linotype"/>
                <a:ea typeface="+mn-ea"/>
                <a:cs typeface="Palatino Linotype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5"/>
              </a:spcBef>
            </a:pPr>
            <a:r>
              <a:rPr lang="en-IN"/>
              <a:t>Department</a:t>
            </a:r>
            <a:r>
              <a:rPr lang="en-IN" spc="-65"/>
              <a:t> </a:t>
            </a:r>
            <a:r>
              <a:rPr lang="en-IN"/>
              <a:t>of</a:t>
            </a:r>
            <a:r>
              <a:rPr lang="en-IN" spc="-40"/>
              <a:t> </a:t>
            </a:r>
            <a:r>
              <a:rPr lang="en-IN"/>
              <a:t>Electrical </a:t>
            </a:r>
            <a:r>
              <a:rPr lang="en-IN" spc="-10"/>
              <a:t>Engineering</a:t>
            </a:r>
            <a:endParaRPr lang="en-IN" spc="-10" dirty="0"/>
          </a:p>
        </p:txBody>
      </p:sp>
    </p:spTree>
    <p:extLst>
      <p:ext uri="{BB962C8B-B14F-4D97-AF65-F5344CB8AC3E}">
        <p14:creationId xmlns:p14="http://schemas.microsoft.com/office/powerpoint/2010/main" val="329905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55E11-4AB7-8978-6CBA-BED001E62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8651D-94D4-A3C6-8ABB-098BF7B481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9535" y="492503"/>
            <a:ext cx="9674942" cy="745767"/>
          </a:xfrm>
        </p:spPr>
        <p:txBody>
          <a:bodyPr>
            <a:normAutofit fontScale="90000"/>
          </a:bodyPr>
          <a:lstStyle/>
          <a:p>
            <a:pPr algn="just"/>
            <a:r>
              <a:rPr lang="en-IN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For Code 1:-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A5ED7B4-0DB7-EE55-AC10-0A3D8F3A4CC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99535" y="1843950"/>
            <a:ext cx="9674942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Performance Metrics: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BLEU: 0.0000 (Complete failure)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ROUGE-1: 0.1837 (Very poor)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BERT Score: 0.0000 (No semantic similarity)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Loss: 3.6469 (High - model struggling)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Generated Examples: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Input: “Women don't belong in leadership”.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Output: “There are a lot of reasons why women don't get elected”.</a:t>
            </a: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C313F54D-4636-137D-BFE0-26F19BF2F06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29950" y="257175"/>
            <a:ext cx="866775" cy="866775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33A83BEA-2932-458B-EDA8-D79A64E84FB0}"/>
              </a:ext>
            </a:extLst>
          </p:cNvPr>
          <p:cNvSpPr txBox="1">
            <a:spLocks/>
          </p:cNvSpPr>
          <p:nvPr/>
        </p:nvSpPr>
        <p:spPr>
          <a:xfrm>
            <a:off x="4789170" y="6446137"/>
            <a:ext cx="2624454" cy="207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 kern="0"/>
            </a:defPPr>
            <a:lvl1pPr marL="0" algn="l" defTabSz="914400" rtl="0" eaLnBrk="1" latinLnBrk="0" hangingPunct="1">
              <a:defRPr sz="1200" b="1" i="0" kern="1200">
                <a:solidFill>
                  <a:srgbClr val="888888"/>
                </a:solidFill>
                <a:latin typeface="Palatino Linotype"/>
                <a:ea typeface="+mn-ea"/>
                <a:cs typeface="Palatino Linotype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5"/>
              </a:spcBef>
            </a:pPr>
            <a:r>
              <a:rPr lang="en-IN"/>
              <a:t>Department</a:t>
            </a:r>
            <a:r>
              <a:rPr lang="en-IN" spc="-65"/>
              <a:t> </a:t>
            </a:r>
            <a:r>
              <a:rPr lang="en-IN"/>
              <a:t>of</a:t>
            </a:r>
            <a:r>
              <a:rPr lang="en-IN" spc="-40"/>
              <a:t> </a:t>
            </a:r>
            <a:r>
              <a:rPr lang="en-IN"/>
              <a:t>Electrical </a:t>
            </a:r>
            <a:r>
              <a:rPr lang="en-IN" spc="-10"/>
              <a:t>Engineering</a:t>
            </a:r>
            <a:endParaRPr lang="en-IN" spc="-10" dirty="0"/>
          </a:p>
        </p:txBody>
      </p:sp>
    </p:spTree>
    <p:extLst>
      <p:ext uri="{BB962C8B-B14F-4D97-AF65-F5344CB8AC3E}">
        <p14:creationId xmlns:p14="http://schemas.microsoft.com/office/powerpoint/2010/main" val="32297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CD133-DA0A-2F42-2D92-9EB6B4A18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A74A6-2395-F86D-9999-2C17E3CC2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9535" y="493098"/>
            <a:ext cx="9674942" cy="745767"/>
          </a:xfrm>
        </p:spPr>
        <p:txBody>
          <a:bodyPr>
            <a:normAutofit fontScale="90000"/>
          </a:bodyPr>
          <a:lstStyle/>
          <a:p>
            <a:pPr algn="just"/>
            <a:r>
              <a:rPr lang="en-IN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For Code 2:-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F344E9E-EC09-95BC-8BD1-C87C02A6BC2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99535" y="1436658"/>
            <a:ext cx="9674942" cy="4462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Factuality: 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+ 4.4%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Response Length: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+ 27.13%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Specificity: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+ 23.3%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"Generate 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for: Hater: I think that all Muslims are just sick and have a negative impact on Western society.\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nHater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 don't want to accept that Islam is a religion of peace. Islam is a disease infecting the entire world.\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nTarget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MUSLIMS\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nCounterspeech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Islam is a religion of peace.“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"Generate 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for: Hater: feminists are angry women\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nHater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Women are subhuman, they don't have the brain to fight for themselves or for men.\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nTarget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WOMEN\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nCounterspeech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womensrights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</a:p>
          <a:p>
            <a:pPr marL="742950" lvl="1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"Generate 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for: Hater: Who the fuck are you? We are gutful sick of Vagina Misandrists trying to undermine White powerful makes, when they themselves are just envious, incompetent and useless.\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nTarget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WOMEN\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nCounterspeech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Who are you?"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EA5656E1-36BD-8851-B576-F28E6D409E8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29950" y="257175"/>
            <a:ext cx="866775" cy="866775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40142C11-9AB3-BEB8-F283-EF9AEC10735D}"/>
              </a:ext>
            </a:extLst>
          </p:cNvPr>
          <p:cNvSpPr txBox="1">
            <a:spLocks/>
          </p:cNvSpPr>
          <p:nvPr/>
        </p:nvSpPr>
        <p:spPr>
          <a:xfrm>
            <a:off x="4789170" y="6446137"/>
            <a:ext cx="2624454" cy="207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 kern="0"/>
            </a:defPPr>
            <a:lvl1pPr marL="0" algn="l" defTabSz="914400" rtl="0" eaLnBrk="1" latinLnBrk="0" hangingPunct="1">
              <a:defRPr sz="1200" b="1" i="0" kern="1200">
                <a:solidFill>
                  <a:srgbClr val="888888"/>
                </a:solidFill>
                <a:latin typeface="Palatino Linotype"/>
                <a:ea typeface="+mn-ea"/>
                <a:cs typeface="Palatino Linotype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5"/>
              </a:spcBef>
            </a:pPr>
            <a:r>
              <a:rPr lang="en-IN"/>
              <a:t>Department</a:t>
            </a:r>
            <a:r>
              <a:rPr lang="en-IN" spc="-65"/>
              <a:t> </a:t>
            </a:r>
            <a:r>
              <a:rPr lang="en-IN"/>
              <a:t>of</a:t>
            </a:r>
            <a:r>
              <a:rPr lang="en-IN" spc="-40"/>
              <a:t> </a:t>
            </a:r>
            <a:r>
              <a:rPr lang="en-IN"/>
              <a:t>Electrical </a:t>
            </a:r>
            <a:r>
              <a:rPr lang="en-IN" spc="-10"/>
              <a:t>Engineering</a:t>
            </a:r>
            <a:endParaRPr lang="en-IN" spc="-10" dirty="0"/>
          </a:p>
        </p:txBody>
      </p:sp>
    </p:spTree>
    <p:extLst>
      <p:ext uri="{BB962C8B-B14F-4D97-AF65-F5344CB8AC3E}">
        <p14:creationId xmlns:p14="http://schemas.microsoft.com/office/powerpoint/2010/main" val="307519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B5F36-D0F6-B7D0-CB26-7E2E3CD2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CD1FB-3DCD-EF31-EAFF-2BC2CBC44D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9535" y="493098"/>
            <a:ext cx="9674942" cy="745767"/>
          </a:xfrm>
        </p:spPr>
        <p:txBody>
          <a:bodyPr>
            <a:normAutofit fontScale="90000"/>
          </a:bodyPr>
          <a:lstStyle/>
          <a:p>
            <a:pPr algn="just"/>
            <a:r>
              <a:rPr lang="en-IN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Conclusion:-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0003ECC-882F-E0EA-0E6C-128B23CE724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99535" y="1794414"/>
            <a:ext cx="9674942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Factual inaccuracies are prevalent in LLM-generated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Clear pathways exist through simplification, repetition, and vagueness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Interventions show promise but need significant refinement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models struggle with evidence-based argumentation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Specialized approaches needed** for trustworthy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counterspeech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F29F2D53-7F4F-0F2E-A636-B4671368AF2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29950" y="257175"/>
            <a:ext cx="866775" cy="866775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31366CED-0369-720A-9D98-0DAB8C482176}"/>
              </a:ext>
            </a:extLst>
          </p:cNvPr>
          <p:cNvSpPr txBox="1">
            <a:spLocks/>
          </p:cNvSpPr>
          <p:nvPr/>
        </p:nvSpPr>
        <p:spPr>
          <a:xfrm>
            <a:off x="4789170" y="6446137"/>
            <a:ext cx="2624454" cy="207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 kern="0"/>
            </a:defPPr>
            <a:lvl1pPr marL="0" algn="l" defTabSz="914400" rtl="0" eaLnBrk="1" latinLnBrk="0" hangingPunct="1">
              <a:defRPr sz="1200" b="1" i="0" kern="1200">
                <a:solidFill>
                  <a:srgbClr val="888888"/>
                </a:solidFill>
                <a:latin typeface="Palatino Linotype"/>
                <a:ea typeface="+mn-ea"/>
                <a:cs typeface="Palatino Linotype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5"/>
              </a:spcBef>
            </a:pPr>
            <a:r>
              <a:rPr lang="en-IN"/>
              <a:t>Department</a:t>
            </a:r>
            <a:r>
              <a:rPr lang="en-IN" spc="-65"/>
              <a:t> </a:t>
            </a:r>
            <a:r>
              <a:rPr lang="en-IN"/>
              <a:t>of</a:t>
            </a:r>
            <a:r>
              <a:rPr lang="en-IN" spc="-40"/>
              <a:t> </a:t>
            </a:r>
            <a:r>
              <a:rPr lang="en-IN"/>
              <a:t>Electrical </a:t>
            </a:r>
            <a:r>
              <a:rPr lang="en-IN" spc="-10"/>
              <a:t>Engineering</a:t>
            </a:r>
            <a:endParaRPr lang="en-IN" spc="-10" dirty="0"/>
          </a:p>
        </p:txBody>
      </p:sp>
    </p:spTree>
    <p:extLst>
      <p:ext uri="{BB962C8B-B14F-4D97-AF65-F5344CB8AC3E}">
        <p14:creationId xmlns:p14="http://schemas.microsoft.com/office/powerpoint/2010/main" val="2199291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FE16B-4848-801F-5379-53DD88BB5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6E74D-C02D-1713-1D19-98ABDE7D32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9535" y="493098"/>
            <a:ext cx="9674942" cy="745767"/>
          </a:xfrm>
        </p:spPr>
        <p:txBody>
          <a:bodyPr>
            <a:normAutofit fontScale="90000"/>
          </a:bodyPr>
          <a:lstStyle/>
          <a:p>
            <a:pPr algn="just"/>
            <a:r>
              <a:rPr lang="en-IN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References:-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CE52536-FEE8-25BC-4918-D76EA8579C8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99535" y="1640317"/>
            <a:ext cx="9674942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Bonaldi et al. (2022). </a:t>
            </a: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Human–Machine Collaboration for Building a Dialogue Dataset for Hate Speech Countering (DIALOCONAN)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Lewis et al. (2019). BART: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Denoising Sequence-to-Sequence Pre-training for NLG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facebook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bart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BERTScore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F1 = –0.5261: Lin (2004). ROUGE: A Package for Automatic Evaluation of Summaries</a:t>
            </a:r>
          </a:p>
          <a:p>
            <a:pPr marL="285750" lvl="0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en-US" b="1" dirty="0"/>
              <a:t>Mathew, B., et al. (2021).</a:t>
            </a:r>
            <a:r>
              <a:rPr lang="en-US" dirty="0"/>
              <a:t> Dialogue Generation for Countering Hate Speech." </a:t>
            </a:r>
            <a:r>
              <a:rPr lang="en-US" i="1" dirty="0"/>
              <a:t>Proceedings of the Web Conference 2021</a:t>
            </a:r>
          </a:p>
          <a:p>
            <a:pPr marL="285750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en-US" b="1" dirty="0"/>
              <a:t>Qian, J., et al. (2022).</a:t>
            </a:r>
            <a:r>
              <a:rPr lang="en-US" dirty="0"/>
              <a:t> "Challenges in </a:t>
            </a:r>
            <a:r>
              <a:rPr lang="en-US" dirty="0" err="1"/>
              <a:t>Counterspeech</a:t>
            </a:r>
            <a:r>
              <a:rPr lang="en-US" dirty="0"/>
              <a:t> Generation Against Hate Speech." </a:t>
            </a:r>
            <a:r>
              <a:rPr lang="en-US" i="1" dirty="0"/>
              <a:t>Findings of EMNLP</a:t>
            </a:r>
            <a:endParaRPr lang="en-US" dirty="0"/>
          </a:p>
          <a:p>
            <a:pPr marL="285750" indent="-28575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en-US" b="1" dirty="0"/>
              <a:t>Zhang, Y., et al. (2023).</a:t>
            </a:r>
            <a:r>
              <a:rPr lang="en-US" dirty="0"/>
              <a:t> "Benchmarking Large Language Models on Factual Accuracy and Hallucination." </a:t>
            </a:r>
            <a:r>
              <a:rPr lang="en-US" i="1" dirty="0"/>
              <a:t>Nature Machine Intelligence</a:t>
            </a:r>
            <a:endParaRPr lang="en-US" dirty="0"/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F0565E6D-3A47-CF7E-F06F-C796A009A45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29950" y="257175"/>
            <a:ext cx="866775" cy="866775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53493388-6C3E-AA13-FE9D-58661976A4E5}"/>
              </a:ext>
            </a:extLst>
          </p:cNvPr>
          <p:cNvSpPr txBox="1">
            <a:spLocks/>
          </p:cNvSpPr>
          <p:nvPr/>
        </p:nvSpPr>
        <p:spPr>
          <a:xfrm>
            <a:off x="4789170" y="6446137"/>
            <a:ext cx="2624454" cy="207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 kern="0"/>
            </a:defPPr>
            <a:lvl1pPr marL="0" algn="l" defTabSz="914400" rtl="0" eaLnBrk="1" latinLnBrk="0" hangingPunct="1">
              <a:defRPr sz="1200" b="1" i="0" kern="1200">
                <a:solidFill>
                  <a:srgbClr val="888888"/>
                </a:solidFill>
                <a:latin typeface="Palatino Linotype"/>
                <a:ea typeface="+mn-ea"/>
                <a:cs typeface="Palatino Linotype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5"/>
              </a:spcBef>
            </a:pPr>
            <a:r>
              <a:rPr lang="en-IN"/>
              <a:t>Department</a:t>
            </a:r>
            <a:r>
              <a:rPr lang="en-IN" spc="-65"/>
              <a:t> </a:t>
            </a:r>
            <a:r>
              <a:rPr lang="en-IN"/>
              <a:t>of</a:t>
            </a:r>
            <a:r>
              <a:rPr lang="en-IN" spc="-40"/>
              <a:t> </a:t>
            </a:r>
            <a:r>
              <a:rPr lang="en-IN"/>
              <a:t>Electrical </a:t>
            </a:r>
            <a:r>
              <a:rPr lang="en-IN" spc="-10"/>
              <a:t>Engineering</a:t>
            </a:r>
            <a:endParaRPr lang="en-IN" spc="-10" dirty="0"/>
          </a:p>
        </p:txBody>
      </p:sp>
    </p:spTree>
    <p:extLst>
      <p:ext uri="{BB962C8B-B14F-4D97-AF65-F5344CB8AC3E}">
        <p14:creationId xmlns:p14="http://schemas.microsoft.com/office/powerpoint/2010/main" val="135084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22A94-C137-A7CD-97CE-849FCB9B8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5">
            <a:extLst>
              <a:ext uri="{FF2B5EF4-FFF2-40B4-BE49-F238E27FC236}">
                <a16:creationId xmlns:a16="http://schemas.microsoft.com/office/drawing/2014/main" id="{B9890A12-6500-44A9-1444-2C4E1212D7C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29950" y="257175"/>
            <a:ext cx="866775" cy="866775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F8EF8B64-B30D-5374-C11D-071FC5DC0666}"/>
              </a:ext>
            </a:extLst>
          </p:cNvPr>
          <p:cNvSpPr txBox="1">
            <a:spLocks/>
          </p:cNvSpPr>
          <p:nvPr/>
        </p:nvSpPr>
        <p:spPr>
          <a:xfrm>
            <a:off x="4789170" y="6446137"/>
            <a:ext cx="2624454" cy="2070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 kern="0"/>
            </a:defPPr>
            <a:lvl1pPr marL="0" algn="l" defTabSz="914400" rtl="0" eaLnBrk="1" latinLnBrk="0" hangingPunct="1">
              <a:defRPr sz="1200" b="1" i="0" kern="1200">
                <a:solidFill>
                  <a:srgbClr val="888888"/>
                </a:solidFill>
                <a:latin typeface="Palatino Linotype"/>
                <a:ea typeface="+mn-ea"/>
                <a:cs typeface="Palatino Linotype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5"/>
              </a:spcBef>
            </a:pPr>
            <a:r>
              <a:rPr lang="en-IN"/>
              <a:t>Department</a:t>
            </a:r>
            <a:r>
              <a:rPr lang="en-IN" spc="-65"/>
              <a:t> </a:t>
            </a:r>
            <a:r>
              <a:rPr lang="en-IN"/>
              <a:t>of</a:t>
            </a:r>
            <a:r>
              <a:rPr lang="en-IN" spc="-40"/>
              <a:t> </a:t>
            </a:r>
            <a:r>
              <a:rPr lang="en-IN"/>
              <a:t>Electrical </a:t>
            </a:r>
            <a:r>
              <a:rPr lang="en-IN" spc="-10"/>
              <a:t>Engineering</a:t>
            </a:r>
            <a:endParaRPr lang="en-IN" spc="-1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B871706-EDD5-901F-67CE-0654E163C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88302"/>
            <a:ext cx="9144000" cy="1081395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45661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567</TotalTime>
  <Words>791</Words>
  <Application>Microsoft Office PowerPoint</Application>
  <PresentationFormat>Widescreen</PresentationFormat>
  <Paragraphs>86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Courier New</vt:lpstr>
      <vt:lpstr>Times New Roman</vt:lpstr>
      <vt:lpstr>Wingdings</vt:lpstr>
      <vt:lpstr>Office Theme</vt:lpstr>
      <vt:lpstr>Topics: Can You Trust the Facts? Analyzing Factuality in Counterspeech Generation Using Large Language Models</vt:lpstr>
      <vt:lpstr>Introduction:-</vt:lpstr>
      <vt:lpstr>Problem Statement:-</vt:lpstr>
      <vt:lpstr>Objectives :-</vt:lpstr>
      <vt:lpstr>Methodology Overview</vt:lpstr>
      <vt:lpstr>Experimental Setup &amp; Implementation:</vt:lpstr>
      <vt:lpstr>Results For Code 1:-</vt:lpstr>
      <vt:lpstr>Results For Code 2:-</vt:lpstr>
      <vt:lpstr> Conclusion:-</vt:lpstr>
      <vt:lpstr> References:-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Animesh Lohar</dc:creator>
  <cp:lastModifiedBy>Animesh Lohar</cp:lastModifiedBy>
  <cp:revision>23</cp:revision>
  <dcterms:created xsi:type="dcterms:W3CDTF">2025-05-10T06:32:23Z</dcterms:created>
  <dcterms:modified xsi:type="dcterms:W3CDTF">2025-11-25T06:19:11Z</dcterms:modified>
</cp:coreProperties>
</file>